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0B981"/>
                </a:solidFill>
              </a:defRPr>
            </a:pPr>
            <a:r>
              <a:t>FINAL CAPSTONE ORAL DEFENSE • DELIVERABLE 4</a:t>
            </a:r>
          </a:p>
          <a:p>
            <a:pPr>
              <a:spcAft>
                <a:spcPts val="1800"/>
              </a:spcAft>
              <a:defRPr sz="4400" b="1">
                <a:solidFill>
                  <a:srgbClr val="FFFFFF"/>
                </a:solidFill>
              </a:defRPr>
            </a:pPr>
            <a:r>
              <a:t>Pharmacy Inventory &amp; Sales</a:t>
            </a:r>
            <a:br/>
            <a:r>
              <a:t>Management System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A Layered, Adversarial-Resistant Full-Stack Web Architecture | Python • Flask • SQLite • Vanilla 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Presented by Team 5 | Final Term Capstone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PHARMACY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Real-World Retail Pharmacy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800" b="1">
                <a:solidFill>
                  <a:srgbClr val="10B981"/>
                </a:solidFill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Uncontrolled Stock Leaks &amp; Spoilage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Manual paper records and isolated spreadsheets fail to flag expiring medicine batches, leading to unexpected financial loss and regulatory liability.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3832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800" b="1">
                <a:solidFill>
                  <a:srgbClr val="10B981"/>
                </a:solidFill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Slow Checkout &amp; Reconciliation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Unsynchronized customer records, manual tax calculations, and disjointed invoices create bottlenecks and reconciliation errors during peak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828800"/>
            <a:ext cx="33832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800" b="1">
                <a:solidFill>
                  <a:srgbClr val="10B981"/>
                </a:solidFill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Fragile Software Vulnerabilities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Off-the-shelf basic systems crash on edge inputs (negative balances, arithmetic overflows) and lack defense-in-depth against common script injections (XSS).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PHARMACY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Solution: A Unified, Layered Monolith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FEATURE 01</a:t>
            </a:r>
          </a:p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Full Lifecycle Pharmacy Suite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Covers end-to-end workflows: Catalog, Customers, Suppliers, Invoicing, Stock Adjustments, Purchases, and Live Financial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3832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FEATURE 02</a:t>
            </a:r>
          </a:p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Asynchronous, Zero-Reload UI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Vanilla JavaScript fetch integrations ensure smooth workflows with immediate inline field validations and instant loading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828800"/>
            <a:ext cx="33832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FEATURE 03</a:t>
            </a:r>
          </a:p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Security &amp; Guarded Core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Mandatory session protection (@app.before_request), route validation guards, and SQL-overflow / XSS sanitization.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PHARMACY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 &amp; Request-Response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1. Client View Layer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Semantic HTML5 + CSS + Jinja2 templates. JS intercepts submits, displays spinners, and prevents page reload.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38328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2. Routing &amp; Guard Tier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Flask Blueprints. Enforces session auth and inspects incoming payloads with strict validation guard clauses.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828800"/>
            <a:ext cx="338328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t>3. Controller &amp; SQL Tier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Decoupled Python functions execute explicit, parameterized SQLite queries with foreign keys and ACID integrity.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846320"/>
            <a:ext cx="1051560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Standardized JSON Response Contract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Success: {'status': 200/201, 'data': {...}}   |   • Validation Fail: {'status': 422, 'error': 'message', 'field': 'key'}</a:t>
            </a:r>
            <a:br/>
            <a:r>
              <a:t>• Resource Missing: {'status': 404, 'error': 'Not found'}   |   • Server Guard: Never exposes raw 500 stack traces.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PHARMACY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Rehearsed Live Demo Flow (Rubric-Aligned)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1. Secure Authentication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Demonstrate session guard redirect to /login. Log in as admin / admin123.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2. Real-Time Dashboard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Show dynamic aggregation widgets (Medicines, Stock Value, Sales, Customers).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1206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3. Graceful Failure (P0 Demo)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Intentionally submit a medicine with negative price or blank name. Show inline 422 error without page reload.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200400"/>
            <a:ext cx="51206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4. Happy Path Creation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Add 'Amoxicillin 500mg' successfully. View instant appearance in catalog.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51206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5. Dynamic Inventory Adjustment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Adjust quantity on a lot. Demonstrate real-time inventory recalculation.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754880"/>
            <a:ext cx="51206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6. Financial Reports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Review automated revenue, purchasing expenditure, and net profit margins.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PHARMACY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5-Member Role Assignment &amp; Defense Ownership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Member 1: Architecture &amp; Auth  |  Files: app.py, routes/extras.py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Defense Focus: System architecture, session guard (@app.before_request), and login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51560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Member 2: Medicines &amp; Validation  |  Files: routes/medicines.py, controllers/medicines.py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Defense Focus: Medicines CRUD, XSS prevention guard, and 32-bit integer overflow protection.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51560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Member 3: Sales &amp; Transactions  |  Files: routes/sales.py, routes/customers.py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Defense Focus: Invoicing, customer linkages, financial amount validation, and data persistence.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51560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Member 4: Procurement &amp; Inventory  |  Files: controllers/suppliers.py, routes/extras.py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Defense Focus: Supplier directory, active stock adjustments (UPDATE current_stock), and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51560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Member 5: Frontend &amp; Automation QA  |  Files: static/css/style.css, templates/*, tests/*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Defense Focus: Async JS fetch lifecycles, inline 422 error painting, and pytest automated test suite.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PHARMACY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Quality Assurance &amp; Adversarial Hardening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PILLAR 01</a:t>
            </a:r>
          </a:p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Adversarial QA Discovery (Week 10)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During feature freeze testing, the system was subjected to hostile inputs. Two critical issues surfaced: script injection (&lt;script&gt;) and database integer overflow when stock numbers exceeded 32-bit maximums.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3832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PILLAR 02</a:t>
            </a:r>
          </a:p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Hardened Route Guards (Week 11)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Validation guards were refactored to explicitly block &lt;script&gt; tokens and cap stock at 2,147,483,647. Both return safe 422 HTTP responses rather than allowing server crashes.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828800"/>
            <a:ext cx="33832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PILLAR 03</a:t>
            </a:r>
          </a:p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100% Automated Regression Suite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A comprehensive 10-test automated pytest suite runs against isolated database runners, verifying both happy-path transactions and adversarial attacks.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PHARMACY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We Learned &amp; Ready for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10B981"/>
                </a:solidFill>
              </a:defRPr>
            </a:pPr>
            <a:r>
              <a:t>TAKEAWAY 1</a:t>
            </a:r>
          </a:p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Guard Clauses Save Systems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Placing strict validation at the route boundary before touching controllers prevents unexpected exceptions from reaching the database layer.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38328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10B981"/>
                </a:solidFill>
              </a:defRPr>
            </a:pPr>
            <a:r>
              <a:t>TAKEAWAY 2</a:t>
            </a:r>
          </a:p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Uniform Response Envelopes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Adopting standardized {status, data, error} structures across all endpoints made frontend error binding clean and predictable.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828800"/>
            <a:ext cx="338328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10B981"/>
                </a:solidFill>
              </a:defRPr>
            </a:pPr>
            <a:r>
              <a:t>TAKEAWAY 3</a:t>
            </a:r>
          </a:p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AI as an Accelerator with Vigilance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AI tools rapidly draft boilerplate code, but thorough human review, adversarial testing, and code audits are required to catch subtle security flaws.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Thank you! We are ready for the unassisted oral defense and technical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